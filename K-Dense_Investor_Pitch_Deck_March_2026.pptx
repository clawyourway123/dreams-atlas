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t>K-DENSE SCIENCE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00B88D"/>
                </a:solidFill>
              </a:defRPr>
            </a:pPr>
            <a:r>
              <a:t>AI-Powered Material Identification Through Spectral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566160"/>
            <a:ext cx="27432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Investor Pitch Deck</a:t>
            </a:r>
          </a:p>
          <a:p/>
          <a:p>
            <a:pPr algn="ctr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888899"/>
                </a:solidFill>
              </a:defRPr>
            </a:pPr>
            <a:r>
              <a:t>DREAMS Project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FFC107"/>
                </a:solidFill>
              </a:defRPr>
            </a:pPr>
            <a:r>
              <a:t>95-100% Accuracy  •  7 Adhesive Classes  •  Non-Destructive  •  Real-Time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7ACC"/>
                </a:solidFill>
              </a:defRPr>
            </a:pPr>
            <a:r>
              <a:t>THE PROBLEM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Adhesive Testing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•  Traditional adhesive identification relies on slow, expensive wet-lab methods (ASTM/ISO protocols)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•  Testing a single sample: hours to days, $50–200+ per test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•  Requires specialized chemists and hazardous reagents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•  QC bottlenecks cause production delays in aerospace, automotive, electronics, and packaging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•  Adhesive misidentification leads to product failures, recalls, and liability</a:t>
            </a:r>
          </a:p>
          <a:p>
            <a:pPr>
              <a:spcAft>
                <a:spcPts val="400"/>
              </a:spcAft>
              <a:defRPr sz="1800" b="1">
                <a:solidFill>
                  <a:srgbClr val="FFC107"/>
                </a:solidFill>
              </a:defRPr>
            </a:pPr>
            <a:r>
              <a:t>•  Global adhesive market exceeds $65B — no scalable, automated classification solution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303520"/>
            <a:ext cx="6400800" cy="109728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C107"/>
                </a:solidFill>
              </a:defRPr>
            </a:pPr>
            <a:r>
              <a:t>$65B+ market  •  No automated solution  •  Hours per test  •  $200+ per sample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B88D"/>
                </a:solidFill>
              </a:defRPr>
            </a:pPr>
            <a:r>
              <a:t>OUR SOLUTION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AI-Powered Spectral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•  Combine IR and Raman spectroscopy with trained ML models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•  Classify adhesives into 7 major categories in seconds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•  Non-destructive — no sample prep, no reagents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•  Works with existing benchtop and portable spectrometers</a:t>
            </a:r>
          </a:p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</a:defRPr>
            </a:pPr>
            <a:r>
              <a:t>•  Cloud or on-premise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88D"/>
                </a:solidFill>
              </a:defRPr>
            </a:pPr>
            <a:r>
              <a:t>7 Adhesive Classes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Acrylic / PSA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Cyanoacrylate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Epoxy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Hot-melt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Polyurethane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Rubber-based</a:t>
            </a:r>
          </a:p>
          <a:p>
            <a:pPr algn="l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✓  Silicone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C107"/>
                </a:solidFill>
              </a:defRPr>
            </a:pPr>
            <a:r>
              <a:t>Instant  •  Accurate  •  Non-Destructive  •  Affordable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7ACC"/>
                </a:solidFill>
              </a:defRPr>
            </a:pPr>
            <a:r>
              <a:t>TECHNOLOGY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Validated Performance: 95–100% Accuracy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IR/FTIR Alone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Raman Alone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Combined IR+Raman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95–100%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CNN-1D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95%+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PLS-DA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DDDD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0B88D"/>
                </a:solidFill>
              </a:defRPr>
            </a:pPr>
            <a:r>
              <a:t>Key Technical Differentiators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Compound-grouped 5-fold cross-validation (no data leakage)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Domain-validated: features align with known adhesive chemistry</a:t>
            </a:r>
          </a:p>
          <a:p>
            <a:pPr>
              <a:spcAft>
                <a:spcPts val="400"/>
              </a:spcAft>
              <a:defRPr sz="1200" b="0">
                <a:solidFill>
                  <a:srgbClr val="888899"/>
                </a:solidFill>
              </a:defRPr>
            </a:pPr>
            <a:r>
              <a:t>     Epoxide ring breathing at 910–915 cm⁻¹  |  Urethane N-H at 3300 cm⁻¹  |  Silicone Si-O-Si at 1000–1100 cm⁻¹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Fisher ratios &gt; 23 for both IR and Raman (excellent class separation)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Dataset: 1,500+ curated adhesive spectra across 7 classes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NMR excluded from production model (non-discriminative, Fisher ratio 0.02)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7ACC"/>
                </a:solidFill>
              </a:defRPr>
            </a:pPr>
            <a:r>
              <a:t>MARKET OPPORTUNITY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$500–620M TAM — No Direct Competitor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Market Layer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Total Addressable Market (TAM)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$500–620M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Serviceable Addressable Market (SAM)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~$165M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Serviceable Obtainable Market (SOM, Yr 5)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~$12M ARR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645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0B88D"/>
                </a:solidFill>
              </a:defRPr>
            </a:pPr>
            <a:r>
              <a:t>Bottom-Up Construction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~2,100 companies with adhesive R&amp;D programs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Tier 1 (&gt;$10B): ~20 companies x $800K = $16M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Tier 2 ($1B–10B): ~180 co. x $400K = $72M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Tier 3 ($500M–1B): ~1,900 co. x $175K = $332M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C107"/>
                </a:solidFill>
              </a:defRPr>
            </a:pPr>
            <a:r>
              <a:t>Market Tailwinds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PFAS reformulation wave — urgent need for rapid adhesive re-characterization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EU Digital Product Passport regulations requiring material traceability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AI-assisted formulation trend across specialty chemicals (5.7% CAGR)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C107"/>
                </a:solidFill>
              </a:defRPr>
            </a:pPr>
            <a:r>
              <a:t>We are the CATEGORY CREATOR — $1.2M+ barrier to replicate our dataset and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B88D"/>
                </a:solidFill>
              </a:defRPr>
            </a:pPr>
            <a:r>
              <a:t>BUSINESS MODEL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SaaS-First, Multi-Tier Revenue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Revenue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SaaS Platform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$2,500–8,000/mo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R&amp;D teams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Per-Test API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$75–150/test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QC labs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Enterprise License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$120–250K/yr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On-prem, dedicated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Pilot Program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$50K flat (6 mo)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New customer POV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Academic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$5–15K/yr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Universities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Self-serve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9319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ARR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$727K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$2.2M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$4.0M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$6.4M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$8.7M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199%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C107"/>
                </a:solidFill>
              </a:defRPr>
            </a:pPr>
            <a:r>
              <a:t>Per-test upside: 100K tests/year across 50 QC labs = $10–25M opportunity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7ACC"/>
                </a:solidFill>
              </a:defRPr>
            </a:pPr>
            <a:r>
              <a:t>FINANCIAL PROJECTIONS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Path to $8.7M ARR and 45% Net Margins by Year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 4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$727K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$2.2M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$4.0M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$6.4M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$8.7M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77%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($523K)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$274K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$1.5M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$3.2M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$5.0M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(77%)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931920"/>
          <a:ext cx="54864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CAC (fully loaded)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$18.8K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$8.5K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LTV (3-year, blended)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$62K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$102K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LTV:CAC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3.3x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12.0x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Payback period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14 months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6 months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Annual churn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3931920"/>
            <a:ext cx="4572000" cy="182880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88D"/>
                </a:solidFill>
              </a:defRPr>
            </a:pPr>
            <a:r>
              <a:t>BREAK-EVEN</a:t>
            </a:r>
          </a:p>
          <a:p>
            <a:pPr algn="ctr">
              <a:defRPr sz="3600" b="1">
                <a:solidFill>
                  <a:srgbClr val="FFC107"/>
                </a:solidFill>
              </a:defRPr>
            </a:pPr>
            <a:r>
              <a:t>Month 26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~55 customers  |  $210K MRR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7ACC"/>
                </a:solidFill>
              </a:defRPr>
            </a:pPr>
            <a:r>
              <a:t>COMPETITIVE ADVANTAGES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Why K-Dense Wins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K-Dense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Labs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DIY (Python)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Seconds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Hours–Days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95–100%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Untested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Sample Prep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Extensive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Cost per Test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Low (SaaS)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$50–200+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Engineer time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Non-Destructive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7-Class Coverage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0B88D"/>
                </a:solidFill>
              </a:defRPr>
            </a:pPr>
            <a:r>
              <a:t>Defensible Moats (Layered)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1.  Proprietary dataset — 1,500+ labeled adhesive spectra ($1.2M+ to replicate)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2.  Domain-validated models — chemically interpretable features confirmed by experts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3.  Compound-grouped validation — methodology exceeding industry standards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4.  Customer data moat — switching costs grow as customers index proprietary libraries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5.  First-mover advantage — no direct competitor in AI-powered adhesive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B88D"/>
                </a:solidFill>
              </a:defRPr>
            </a:pPr>
            <a:r>
              <a:t>TEAM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World-Class Interdisciplinary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Elena Vasquez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CEO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Strategic vision and company leadership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Marcus Chen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Chief Science Officer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Research coordination across all departments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Alexander Petrov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Machine Learning Lead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Model architecture, training, production deployment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Nikolai Volkov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Physical Sciences Lead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Spectroscopy expertise &amp; domain validation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Priya Sharma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Drug Discovery Lead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Chemical validation &amp; domain review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Lin Wei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Data Engineering Lead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Data curation, pipeline, quality assurance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Rosa Martinez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Data Visualization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Publication-quality figures &amp; communication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Paolo Ricci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Market Research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Market analysis &amp; competitive intelligence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Dr. Sarah Nakamura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Financial Modeling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DDDDDD"/>
                          </a:solidFill>
                        </a:defRPr>
                      </a:pPr>
                      <a:r>
                        <a:t>Revenue projections &amp; business planning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C107"/>
                </a:solidFill>
              </a:defRPr>
            </a:pPr>
            <a:r>
              <a:t>15+ specialists across ML, chemistry, data science, and business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7ACC"/>
                </a:solidFill>
              </a:defRPr>
            </a:pPr>
            <a:r>
              <a:t>GO-TO-MARKET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Land-and-Expand with Design Partners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Pilot Prob.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Evonik Industries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Open Innovation (Creavis), digital chemistry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Henkel AG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World's largest adhesive mfr, Digital R&amp;D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Covestro AG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Strong digital culture, PU adhesive focus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Arkema/Bostik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Post-acquisition data integration need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3M Company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Largest adhesive portfolio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554480"/>
          <a:ext cx="4389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Revenue Target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Foundation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Q1–Q2 2026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Design Partners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Q3–Q4 2026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$100–150K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Enterprise Expansion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$1.5–2.5M ARR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2028–2030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$5–12M ARR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0B88D"/>
                </a:solidFill>
              </a:defRPr>
            </a:pPr>
            <a:r>
              <a:t>Key GTM Advantages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95–100% accuracy verifiable in a 15-minute live demo with customer spectra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PFAS Reformulation Challenge — free public dataset drives 5–15 inbound enterprise inquiries</a:t>
            </a:r>
          </a:p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</a:defRPr>
            </a:pPr>
            <a:r>
              <a:t>•  DREAMS research paper in ACS Applied Materials &amp; Interfaces builds scientific credibility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C107"/>
                </a:solidFill>
              </a:defRPr>
            </a:pPr>
            <a:r>
              <a:t>INVESTMENT ASK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$1.5M Seed  →  $5M Series 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 of Funds (Seed $1.5M)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Product development &amp; model optimization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$600K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Initial sales team (2 AEs + SDR)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$350K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Cloud infrastructure &amp; hosting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$200K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Regulatory &amp; compliance (SOC 2, ISO)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$100K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Working capital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$250K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554480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 of Funds (Series A $5M)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Scale engineering (8→12 FTEs)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$2.0M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Expand sales &amp; marketing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$1.5M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Enterprise on-prem features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$800K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International market entry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$500K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Working capital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DDDDDD"/>
                          </a:solidFill>
                        </a:defRPr>
                      </a:pPr>
                      <a:r>
                        <a:t>$200K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B88D"/>
                </a:solidFill>
              </a:defRPr>
            </a:pPr>
            <a:r>
              <a:t>Seed Milestones (18 months)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Launch commercial SaaS (Month 6)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15+ paying customers (Month 12)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$50K MRR (Month 15)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Validate enterprise licensing (Month 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B88D"/>
                </a:solidFill>
              </a:defRPr>
            </a:pPr>
            <a:r>
              <a:t>Series A Milestones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$200K MRR (Month 24)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60+ customers (Month 30)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Positive EBITDA (Month 26)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First enterprise on-prem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B88D"/>
                </a:solidFill>
              </a:defRPr>
            </a:pPr>
            <a:r>
              <a:t>VISION</a:t>
            </a:r>
          </a:p>
          <a:p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From Lab to Industry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9144000" cy="914400"/>
          </a:xfrm>
          <a:prstGeom prst="rect">
            <a:avLst/>
          </a:prstGeom>
          <a:solidFill>
            <a:srgbClr val="1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FFC107"/>
                </a:solidFill>
              </a:defRPr>
            </a:pPr>
            <a:r>
              <a:t>"Every adhesive bond in every product deserves to be verified — instantly, accurately, and affordably."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Near-term: Production-ready adhesive classifier with 95–100% accuracy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Medium-term: Industry-standard AI testing platform integrated with major spectrometer brands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Long-term: Universal spectral intelligence platform for material identification across industries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45720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Year 5 ARR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$1.5M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Pilot struggles; build-in-house risk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$8.7M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3 pilots in 2026; steady expansion</a:t>
                      </a:r>
                    </a:p>
                  </a:txBody>
                  <a:tcPr anchor="ctr">
                    <a:solidFill>
                      <a:srgbClr val="1A25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$14M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DDDDDD"/>
                          </a:solidFill>
                        </a:defRPr>
                      </a:pPr>
                      <a:r>
                        <a:t>PFAS mandate urgency + adjacent verticals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943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0B88D"/>
                </a:solidFill>
              </a:defRPr>
            </a:pPr>
            <a:r>
              <a:t>K-Dense Science Lab  —  DREAMS Project  —  Contact: Dr. Elena Vasquez, CEO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