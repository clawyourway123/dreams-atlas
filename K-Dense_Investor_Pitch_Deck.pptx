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K-Dense Science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BBCCDD"/>
                </a:solidFill>
                <a:latin typeface="Calibri"/>
              </a:defRPr>
            </a:pPr>
            <a:r>
              <a:t>AI-Powered Material Identification Through Spectral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291840"/>
            <a:ext cx="2743200" cy="50800"/>
          </a:xfrm>
          <a:prstGeom prst="rect">
            <a:avLst/>
          </a:prstGeom>
          <a:solidFill>
            <a:srgbClr val="2D8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>
                <a:solidFill>
                  <a:srgbClr val="DDDDDD"/>
                </a:solidFill>
                <a:latin typeface="Calibri"/>
              </a:defRPr>
            </a:pPr>
            <a:r>
              <a:t>•  Deep research laboratory combining AI/ML with analytical chemistry</a:t>
            </a:r>
          </a:p>
          <a:p>
            <a:pPr algn="ctr">
              <a:spcAft>
                <a:spcPts val="1000"/>
              </a:spcAft>
              <a:defRPr sz="1600">
                <a:solidFill>
                  <a:srgbClr val="DDDDDD"/>
                </a:solidFill>
                <a:latin typeface="Calibri"/>
              </a:defRPr>
            </a:pPr>
            <a:r>
              <a:t>•  Cross-disciplinary team: machine learning, spectroscopy, data science</a:t>
            </a:r>
          </a:p>
          <a:p>
            <a:pPr algn="ctr">
              <a:spcAft>
                <a:spcPts val="1000"/>
              </a:spcAft>
              <a:defRPr sz="1600">
                <a:solidFill>
                  <a:srgbClr val="DDDDDD"/>
                </a:solidFill>
                <a:latin typeface="Calibri"/>
              </a:defRPr>
            </a:pPr>
            <a:r>
              <a:t>•  Flagship: Automated adhesive classification using IR and Raman spectroscopy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99AA"/>
                </a:solidFill>
                <a:latin typeface="Calibri"/>
              </a:defRPr>
            </a:pPr>
            <a:r>
              <a:t>DREAMS Project  |  Investor Presentation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BBCCDD"/>
                </a:solidFill>
                <a:latin typeface="Calibri"/>
              </a:defRPr>
            </a:pPr>
            <a:r>
              <a:t>Adhesive Testing Is Broken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  <a:latin typeface="Calibri"/>
              </a:defRPr>
            </a:pPr>
            <a:r>
              <a:t>K-Dense Science Lab  |  DREAMS Project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  <a:latin typeface="Calibri"/>
              </a:defRPr>
            </a:pPr>
            <a:r>
              <a:t>•  Traditional adhesive identification relies on slow, expensive wet-lab methods (ASTM/ISO protocols)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  <a:latin typeface="Calibri"/>
              </a:defRPr>
            </a:pPr>
            <a:r>
              <a:t>•  Testing a single adhesive sample can take hours to days and costs $50–200+ per test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  <a:latin typeface="Calibri"/>
              </a:defRPr>
            </a:pPr>
            <a:r>
              <a:t>•  Current methods require specialized chemists and hazardous reagents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  <a:latin typeface="Calibri"/>
              </a:defRPr>
            </a:pPr>
            <a:r>
              <a:t>•  Quality control bottlenecks cause production delays in aerospace, automotive, electronics, and packaging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  <a:latin typeface="Calibri"/>
              </a:defRPr>
            </a:pPr>
            <a:r>
              <a:t>•  Adhesive misidentification leads to product failures, recalls, and liability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  <a:latin typeface="Calibri"/>
              </a:defRPr>
            </a:pPr>
            <a:r>
              <a:t>•  No scalable, automated solution exists for real-time adhesive classification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303520"/>
            <a:ext cx="9144000" cy="5486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Global adhesive market exceeds $65B — No automated classification solution exists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BBCCDD"/>
                </a:solidFill>
                <a:latin typeface="Calibri"/>
              </a:defRPr>
            </a:pPr>
            <a:r>
              <a:t>AI-Powered Spectral Classification — Instant, Accurate, Non-Destructive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  <a:latin typeface="Calibri"/>
              </a:defRPr>
            </a:pPr>
            <a:r>
              <a:t>K-Dense Science Lab  |  DREAMS Project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  <a:latin typeface="Calibri"/>
              </a:defRPr>
            </a:pPr>
            <a:r>
              <a:t>•  Combine IR (infrared) and Raman spectroscopy with trained ML models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  <a:latin typeface="Calibri"/>
              </a:defRPr>
            </a:pPr>
            <a:r>
              <a:t>•  Classify adhesives into 7 major categories in seconds, not hours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  <a:latin typeface="Calibri"/>
              </a:defRPr>
            </a:pPr>
            <a:r>
              <a:t>•  Non-destructive testing — no sample preparation, no reagents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  <a:latin typeface="Calibri"/>
              </a:defRPr>
            </a:pPr>
            <a:r>
              <a:t>•  Works with existing benchtop and portable IR/Raman spectrometers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  <a:latin typeface="Calibri"/>
              </a:defRPr>
            </a:pPr>
            <a:r>
              <a:t>•  Cloud or on-premise deployment for real-time QC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463040" cy="502920"/>
          </a:xfrm>
          <a:prstGeom prst="roundRect">
            <a:avLst/>
          </a:prstGeom>
          <a:solidFill>
            <a:srgbClr val="2D8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Acrylic/PSA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5029200"/>
            <a:ext cx="1463040" cy="502920"/>
          </a:xfrm>
          <a:prstGeom prst="roundRect">
            <a:avLst/>
          </a:prstGeom>
          <a:solidFill>
            <a:srgbClr val="2D8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Cyanoacrylate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5029200"/>
            <a:ext cx="1463040" cy="502920"/>
          </a:xfrm>
          <a:prstGeom prst="roundRect">
            <a:avLst/>
          </a:prstGeom>
          <a:solidFill>
            <a:srgbClr val="2D8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Epoxy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5029200"/>
            <a:ext cx="1463040" cy="502920"/>
          </a:xfrm>
          <a:prstGeom prst="roundRect">
            <a:avLst/>
          </a:prstGeom>
          <a:solidFill>
            <a:srgbClr val="2D8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Hot-melt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5029200"/>
            <a:ext cx="1463040" cy="502920"/>
          </a:xfrm>
          <a:prstGeom prst="roundRect">
            <a:avLst/>
          </a:prstGeom>
          <a:solidFill>
            <a:srgbClr val="2D8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Polyurethane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5029200"/>
            <a:ext cx="1463040" cy="502920"/>
          </a:xfrm>
          <a:prstGeom prst="roundRect">
            <a:avLst/>
          </a:prstGeom>
          <a:solidFill>
            <a:srgbClr val="2D8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Rubber-based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32720" y="5029200"/>
            <a:ext cx="1463040" cy="502920"/>
          </a:xfrm>
          <a:prstGeom prst="roundRect">
            <a:avLst/>
          </a:prstGeom>
          <a:solidFill>
            <a:srgbClr val="2D8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Silicone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Technology — Validated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BBCCDD"/>
                </a:solidFill>
                <a:latin typeface="Calibri"/>
              </a:defRPr>
            </a:pPr>
            <a:r>
              <a:t>IR + Raman Achieves Near-Perfect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  <a:latin typeface="Calibri"/>
              </a:defRPr>
            </a:pPr>
            <a:r>
              <a:t>K-Dense Science Lab  |  DREAMS Project  | 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IR/FTIR Alone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Raman Alone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Combined IR+Raman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95–100%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CNN-1D Accuracy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95.2%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99.8%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95%+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PLS-DA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474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•  Compound-grouped 5-fold cross-validation (no data leakage)</a:t>
            </a:r>
          </a:p>
          <a:p>
            <a:pPr>
              <a:spcAft>
                <a:spcPts val="8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•  Domain-validated: model features align with known adhesive chemistry</a:t>
            </a:r>
          </a:p>
          <a:p>
            <a:pPr>
              <a:spcAft>
                <a:spcPts val="8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•  Fisher ratios &gt; 23 for both IR and Raman (excellent class separation)</a:t>
            </a:r>
          </a:p>
          <a:p>
            <a:pPr>
              <a:spcAft>
                <a:spcPts val="8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•  Dataset: 1,500+ curated adhesive spectra across 7 classes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754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2D8B7E"/>
                </a:solidFill>
                <a:latin typeface="Calibri"/>
              </a:defRPr>
            </a:pPr>
            <a:r>
              <a:t>Epoxide ring breathing at 910–915 cm⁻¹</a:t>
            </a:r>
          </a:p>
          <a:p>
            <a:pPr>
              <a:defRPr sz="1100" i="1">
                <a:solidFill>
                  <a:srgbClr val="2D8B7E"/>
                </a:solidFill>
                <a:latin typeface="Calibri"/>
              </a:defRPr>
            </a:pPr>
            <a:r>
              <a:t>Urethane N-H stretch at 3300 cm⁻¹</a:t>
            </a:r>
          </a:p>
          <a:p>
            <a:pPr>
              <a:defRPr sz="1100" i="1">
                <a:solidFill>
                  <a:srgbClr val="2D8B7E"/>
                </a:solidFill>
                <a:latin typeface="Calibri"/>
              </a:defRPr>
            </a:pPr>
            <a:r>
              <a:t>Silicone Si-O-Si at 1000–1100 cm⁻¹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BBCCDD"/>
                </a:solidFill>
                <a:latin typeface="Calibri"/>
              </a:defRPr>
            </a:pPr>
            <a:r>
              <a:t>$420M+ TAM — No Direct Competitor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  <a:latin typeface="Calibri"/>
              </a:defRPr>
            </a:pPr>
            <a:r>
              <a:t>K-Dense Science Lab  |  DREAMS Project  | 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7315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Market Layer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Addressable Market (TAM)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~$500–620M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Serviceable Addressable Market (SAM)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~$165M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Serviceable Obtainable Market (SOM, Year 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~$12M ARR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200400"/>
          <a:ext cx="7315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Companies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Deal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Tier 1 (&gt;$10B rev)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$800K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$16M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Tier 2 ($1B–$10B)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~180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$400K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$72M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Tier 3 ($500M–$1B)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~1,900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$175K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$332M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Calibri"/>
              </a:defRPr>
            </a:pPr>
            <a:r>
              <a:t>Market Tailwinds</a:t>
            </a:r>
          </a:p>
          <a:p>
            <a:pPr>
              <a:spcAft>
                <a:spcPts val="800"/>
              </a:spcAft>
              <a:defRPr sz="1300">
                <a:solidFill>
                  <a:srgbClr val="2D8B7E"/>
                </a:solidFill>
                <a:latin typeface="Calibri"/>
              </a:defRPr>
            </a:pPr>
            <a:r>
              <a:t>✓  PFAS reformulation wave driving urgent need</a:t>
            </a:r>
          </a:p>
          <a:p>
            <a:pPr>
              <a:spcAft>
                <a:spcPts val="800"/>
              </a:spcAft>
              <a:defRPr sz="1300">
                <a:solidFill>
                  <a:srgbClr val="2D8B7E"/>
                </a:solidFill>
                <a:latin typeface="Calibri"/>
              </a:defRPr>
            </a:pPr>
            <a:r>
              <a:t>✓  EU Digital Product Passport regulations</a:t>
            </a:r>
          </a:p>
          <a:p>
            <a:pPr>
              <a:spcAft>
                <a:spcPts val="800"/>
              </a:spcAft>
              <a:defRPr sz="1300">
                <a:solidFill>
                  <a:srgbClr val="2D8B7E"/>
                </a:solidFill>
                <a:latin typeface="Calibri"/>
              </a:defRPr>
            </a:pPr>
            <a:r>
              <a:t>✓  AI-assisted formulation trend (5.7% CAGR)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10515600" cy="5029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Category Creator — $1.2M+ barrier to replicate dataset &amp;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Business Model &amp;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BBCCDD"/>
                </a:solidFill>
                <a:latin typeface="Calibri"/>
              </a:defRPr>
            </a:pPr>
            <a:r>
              <a:t>SaaS-First, Multi-Tier Revenue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  <a:latin typeface="Calibri"/>
              </a:defRPr>
            </a:pPr>
            <a:r>
              <a:t>K-Dense Science Lab  |  DREAMS Project  | 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Revenue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SaaS Platform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$2,500–8,000/mo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R&amp;D teams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Per-Test API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$75–150/test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QC labs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Enterprise License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$120–250K/yr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On-prem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Pilot Program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$50K flat (6 mo)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New customers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Entry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Academic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$5–15K/yr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Universities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Self-serve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84048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Customers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ARR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YoY Growth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$727K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2027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$2.2M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199%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$4.0M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2029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$6.4M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59%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$8.7M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943600"/>
            <a:ext cx="10515600" cy="457200"/>
          </a:xfrm>
          <a:prstGeom prst="roundRect">
            <a:avLst/>
          </a:prstGeom>
          <a:solidFill>
            <a:srgbClr val="2D8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Per-test upside: 100K tests/yr across 50 QC labs = $10–25M opportunity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BBCCDD"/>
                </a:solidFill>
                <a:latin typeface="Calibri"/>
              </a:defRPr>
            </a:pPr>
            <a:r>
              <a:t>Path to $8.7M ARR and 45% Net Margins by Year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  <a:latin typeface="Calibri"/>
              </a:defRPr>
            </a:pPr>
            <a:r>
              <a:t>K-Dense Science Lab  |  DREAMS Project  | 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4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5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$727K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$2.2M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$4.0M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$6.4M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$8.7M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Gross Margin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68%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74%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77%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78%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EBITDA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($523K)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$274K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$3.2M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$5.0M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 Margin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(77%)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39%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Customers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840480"/>
          <a:ext cx="6400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5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CAC (fully loaded)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$18.8K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$8.5K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LTV (3-year, blended)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$62K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$102K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LTV:CAC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3.3x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12.0x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Payback period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 months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 months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Annual churn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0" y="4114800"/>
            <a:ext cx="4389120" cy="5486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Break-even: Month 26 (~55 customers, $210K MRR)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Competitive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BBCCDD"/>
                </a:solidFill>
                <a:latin typeface="Calibri"/>
              </a:defRPr>
            </a:pPr>
            <a:r>
              <a:t>Why K-Dense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  <a:latin typeface="Calibri"/>
              </a:defRPr>
            </a:pPr>
            <a:r>
              <a:t>K-Dense Science Lab  |  DREAMS Project  | 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Advantage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K-Dense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Traditional Labs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DIY (Python)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Speed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Seconds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Hours–Days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Minutes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95–100%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Variable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Untested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Sample Prep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Extensive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Cost per Test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 (SaaS)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$50–200+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Engineer time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Non-Destructive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7-Class Coverage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20624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2A4A"/>
                </a:solidFill>
                <a:latin typeface="Calibri"/>
              </a:defRPr>
            </a:pPr>
            <a:r>
              <a:t>Defensible Moats</a:t>
            </a:r>
          </a:p>
          <a:p>
            <a:pPr>
              <a:spcAft>
                <a:spcPts val="4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1.  Proprietary dataset — 1,500+ labeled adhesive spectra ($1.2M+ to replicate)</a:t>
            </a:r>
          </a:p>
          <a:p>
            <a:pPr>
              <a:spcAft>
                <a:spcPts val="4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2.  Domain-validated models — chemically interpretable features</a:t>
            </a:r>
          </a:p>
          <a:p>
            <a:pPr>
              <a:spcAft>
                <a:spcPts val="4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3.  Compound-grouped validation — exceeds industry standards</a:t>
            </a:r>
          </a:p>
          <a:p>
            <a:pPr>
              <a:spcAft>
                <a:spcPts val="4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4.  Customer data moat — switching costs grow over time</a:t>
            </a:r>
          </a:p>
          <a:p>
            <a:pPr>
              <a:spcAft>
                <a:spcPts val="4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5.  First-mover advantage — no direct competitor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Team &amp;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BBCCDD"/>
                </a:solidFill>
                <a:latin typeface="Calibri"/>
              </a:defRPr>
            </a:pPr>
            <a:r>
              <a:t>World-Class Interdisciplinary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  <a:latin typeface="Calibri"/>
              </a:defRPr>
            </a:pPr>
            <a:r>
              <a:t>K-Dense Science Lab  |  DREAMS Project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A4A"/>
                </a:solidFill>
                <a:latin typeface="Calibri"/>
              </a:rPr>
              <a:t>Dr. Elena Vasquez  </a:t>
            </a:r>
            <a:r>
              <a:rPr sz="1200">
                <a:solidFill>
                  <a:srgbClr val="444444"/>
                </a:solidFill>
                <a:latin typeface="Calibri"/>
              </a:rPr>
              <a:t>(CEO) — Strategic vision and company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A4A"/>
                </a:solidFill>
                <a:latin typeface="Calibri"/>
              </a:rPr>
              <a:t>Dr. Marcus Chen  </a:t>
            </a:r>
            <a:r>
              <a:rPr sz="1200">
                <a:solidFill>
                  <a:srgbClr val="444444"/>
                </a:solidFill>
                <a:latin typeface="Calibri"/>
              </a:rPr>
              <a:t>(Chief Science Officer) — Research coordination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A4A"/>
                </a:solidFill>
                <a:latin typeface="Calibri"/>
              </a:rPr>
              <a:t>Dr. Alexander Petrov  </a:t>
            </a:r>
            <a:r>
              <a:rPr sz="1200">
                <a:solidFill>
                  <a:srgbClr val="444444"/>
                </a:solidFill>
                <a:latin typeface="Calibri"/>
              </a:rPr>
              <a:t>(Machine Learning) — Model architecture, training, production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A4A"/>
                </a:solidFill>
                <a:latin typeface="Calibri"/>
              </a:rPr>
              <a:t>Dr. Nikolai Volkov  </a:t>
            </a:r>
            <a:r>
              <a:rPr sz="1200">
                <a:solidFill>
                  <a:srgbClr val="444444"/>
                </a:solidFill>
                <a:latin typeface="Calibri"/>
              </a:rPr>
              <a:t>(Physical Sciences) — Spectroscopy and domain 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A4A"/>
                </a:solidFill>
                <a:latin typeface="Calibri"/>
              </a:rPr>
              <a:t>Dr. Priya Sharma  </a:t>
            </a:r>
            <a:r>
              <a:rPr sz="1200">
                <a:solidFill>
                  <a:srgbClr val="444444"/>
                </a:solidFill>
                <a:latin typeface="Calibri"/>
              </a:rPr>
              <a:t>(Chemistry) — Domain science and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A4A"/>
                </a:solidFill>
                <a:latin typeface="Calibri"/>
              </a:rPr>
              <a:t>Dr. Lin Wei  </a:t>
            </a:r>
            <a:r>
              <a:rPr sz="1200">
                <a:solidFill>
                  <a:srgbClr val="444444"/>
                </a:solidFill>
                <a:latin typeface="Calibri"/>
              </a:rPr>
              <a:t>(Data Engineering) — Data curation, pipeline, quality assurance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828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A4A"/>
                </a:solidFill>
                <a:latin typeface="Calibri"/>
              </a:rPr>
              <a:t>Dr. Rosa Martinez  </a:t>
            </a:r>
            <a:r>
              <a:rPr sz="1200">
                <a:solidFill>
                  <a:srgbClr val="444444"/>
                </a:solidFill>
                <a:latin typeface="Calibri"/>
              </a:rPr>
              <a:t>(Visualization) — Data visualization and communication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A4A"/>
                </a:solidFill>
                <a:latin typeface="Calibri"/>
              </a:rPr>
              <a:t>Dr. Victoria Chang  </a:t>
            </a:r>
            <a:r>
              <a:rPr sz="1200">
                <a:solidFill>
                  <a:srgbClr val="444444"/>
                </a:solidFill>
                <a:latin typeface="Calibri"/>
              </a:rPr>
              <a:t>(Communication) — Scientific communication lead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A4A"/>
                </a:solidFill>
                <a:latin typeface="Calibri"/>
              </a:rPr>
              <a:t>Dr. Paolo Ricci  </a:t>
            </a:r>
            <a:r>
              <a:rPr sz="1200">
                <a:solidFill>
                  <a:srgbClr val="444444"/>
                </a:solidFill>
                <a:latin typeface="Calibri"/>
              </a:rPr>
              <a:t>(Market Analysis) — Market research and business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200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A4A"/>
                </a:solidFill>
                <a:latin typeface="Calibri"/>
              </a:rPr>
              <a:t>Dr. Sarah Nakamura  </a:t>
            </a:r>
            <a:r>
              <a:rPr sz="1200">
                <a:solidFill>
                  <a:srgbClr val="444444"/>
                </a:solidFill>
                <a:latin typeface="Calibri"/>
              </a:rPr>
              <a:t>(Finance) — Financial modeling and projections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10515600" cy="502920"/>
          </a:xfrm>
          <a:prstGeom prst="roundRect">
            <a:avLst/>
          </a:prstGeom>
          <a:solidFill>
            <a:srgbClr val="2D8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Full team of 15+ specialists across ML, chemistry, data science, and business strategy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Go-to-Market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BBCCDD"/>
                </a:solidFill>
                <a:latin typeface="Calibri"/>
              </a:defRPr>
            </a:pPr>
            <a:r>
              <a:t>Land-and-Expand with Design Partners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  <a:latin typeface="Calibri"/>
              </a:defRPr>
            </a:pPr>
            <a:r>
              <a:t>K-Dense Science Lab  |  DREAMS Project  | 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Pilot Probability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Rationale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Evonik Industries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Open Innovation unit, digital chemistry commitment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Henkel AG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82%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World's largest adhesive manufacturer, active Digital R&amp;D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Covestro AG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Strong digital culture, PU adhesive formulation focus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Arkema/Bostik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70%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Post-acquisition data integration need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3M Company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Largest adhesive portfolio (long procurement cycle)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84048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Timeline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Goal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Revenue Target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Foundation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Q1–Q2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SOC 2, vendor portals, V1 deployment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Design Partners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Q3–Q4 2026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Sign 2–3 paid pilots at $50K each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$100–150K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Enterprise Expansion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Convert pilots to $200–300K contracts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$1.5–2.5M ARR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Scale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2028–2030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10–15 enterprise + mid-tier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$5–12M ARR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Investment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BBCCDD"/>
                </a:solidFill>
                <a:latin typeface="Calibri"/>
              </a:defRPr>
            </a:pPr>
            <a:r>
              <a:t>$1.5M Seed → $5M Series 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  <a:latin typeface="Calibri"/>
              </a:defRPr>
            </a:pPr>
            <a:r>
              <a:t>K-Dense Science Lab  |  DREAMS Project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Calibri"/>
              </a:defRPr>
            </a:pPr>
            <a:r>
              <a:t>Seed Round: $1.5M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737360"/>
          <a:ext cx="5029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 of Funds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Amount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Product development &amp; model optimization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$600K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Initial sales team (2 AEs + SDR)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$350K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Cloud infrastructure &amp; hosting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Regulatory &amp; compliance (SOC 2, ISO)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$100K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Working capital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$250K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Calibri"/>
              </a:defRPr>
            </a:pPr>
            <a:r>
              <a:t>Series A: $5M (Month 18–24)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737360"/>
          <a:ext cx="5029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 of Funds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Amount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Scale engineering (8→12 FTEs)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$2.0M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Expand sales &amp; marketing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$1.5M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Enterprise on-prem features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$800K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International market entry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$500K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Working capital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4389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8B7E"/>
                </a:solidFill>
                <a:latin typeface="Calibri"/>
              </a:defRPr>
            </a:pPr>
            <a:r>
              <a:t>Seed Milestones (18 months)</a:t>
            </a:r>
          </a:p>
          <a:p>
            <a:pPr>
              <a:defRPr sz="1200">
                <a:solidFill>
                  <a:srgbClr val="444444"/>
                </a:solidFill>
                <a:latin typeface="Calibri"/>
              </a:defRPr>
            </a:pPr>
            <a:r>
              <a:t>✓  Launch commercial SaaS product (Month 6)</a:t>
            </a:r>
          </a:p>
          <a:p>
            <a:pPr>
              <a:defRPr sz="1200">
                <a:solidFill>
                  <a:srgbClr val="444444"/>
                </a:solidFill>
                <a:latin typeface="Calibri"/>
              </a:defRPr>
            </a:pPr>
            <a:r>
              <a:t>✓  15+ paying customers (Month 12)</a:t>
            </a:r>
          </a:p>
          <a:p>
            <a:pPr>
              <a:defRPr sz="1200">
                <a:solidFill>
                  <a:srgbClr val="444444"/>
                </a:solidFill>
                <a:latin typeface="Calibri"/>
              </a:defRPr>
            </a:pPr>
            <a:r>
              <a:t>✓  $50K MRR (Month 15)</a:t>
            </a:r>
          </a:p>
          <a:p>
            <a:pPr>
              <a:defRPr sz="1200">
                <a:solidFill>
                  <a:srgbClr val="444444"/>
                </a:solidFill>
                <a:latin typeface="Calibri"/>
              </a:defRPr>
            </a:pPr>
            <a:r>
              <a:t>✓  Validate enterprise licensing (Month 18)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8B7E"/>
                </a:solidFill>
                <a:latin typeface="Calibri"/>
              </a:defRPr>
            </a:pPr>
            <a:r>
              <a:t>Series A Milestones</a:t>
            </a:r>
          </a:p>
          <a:p>
            <a:pPr>
              <a:defRPr sz="1200">
                <a:solidFill>
                  <a:srgbClr val="444444"/>
                </a:solidFill>
                <a:latin typeface="Calibri"/>
              </a:defRPr>
            </a:pPr>
            <a:r>
              <a:t>✓  $200K MRR (Month 24)</a:t>
            </a:r>
          </a:p>
          <a:p>
            <a:pPr>
              <a:defRPr sz="1200">
                <a:solidFill>
                  <a:srgbClr val="444444"/>
                </a:solidFill>
                <a:latin typeface="Calibri"/>
              </a:defRPr>
            </a:pPr>
            <a:r>
              <a:t>✓  60+ customers (Month 30)</a:t>
            </a:r>
          </a:p>
          <a:p>
            <a:pPr>
              <a:defRPr sz="1200">
                <a:solidFill>
                  <a:srgbClr val="444444"/>
                </a:solidFill>
                <a:latin typeface="Calibri"/>
              </a:defRPr>
            </a:pPr>
            <a:r>
              <a:t>✓  Positive EBITDA (Month 26)</a:t>
            </a:r>
          </a:p>
          <a:p>
            <a:pPr>
              <a:defRPr sz="1200">
                <a:solidFill>
                  <a:srgbClr val="444444"/>
                </a:solidFill>
                <a:latin typeface="Calibri"/>
              </a:defRPr>
            </a:pPr>
            <a:r>
              <a:t>✓  First on-prem deployment (Month 24)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i="1">
                <a:solidFill>
                  <a:srgbClr val="BBCCDD"/>
                </a:solidFill>
                <a:latin typeface="Calibri"/>
              </a:defRPr>
            </a:pPr>
            <a:r>
              <a:t>"Every adhesive bond in every product deserves to be verified — instantly, accurately, and affordably."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286000"/>
            <a:ext cx="2743200" cy="50800"/>
          </a:xfrm>
          <a:prstGeom prst="rect">
            <a:avLst/>
          </a:prstGeom>
          <a:solidFill>
            <a:srgbClr val="2D8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D8B7E"/>
                </a:solidFill>
                <a:latin typeface="Calibri"/>
              </a:rPr>
              <a:t>Near-term:  </a:t>
            </a:r>
            <a:r>
              <a:rPr sz="1600">
                <a:solidFill>
                  <a:srgbClr val="FFFFFF"/>
                </a:solidFill>
                <a:latin typeface="Calibri"/>
              </a:rPr>
              <a:t>Production-ready adhesive classifier with 95–100%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D8B7E"/>
                </a:solidFill>
                <a:latin typeface="Calibri"/>
              </a:rPr>
              <a:t>Medium-term:  </a:t>
            </a:r>
            <a:r>
              <a:rPr sz="1600">
                <a:solidFill>
                  <a:srgbClr val="FFFFFF"/>
                </a:solidFill>
                <a:latin typeface="Calibri"/>
              </a:rPr>
              <a:t>Industry-standard AI testing platform integrated with major spectrometer brands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D8B7E"/>
                </a:solidFill>
                <a:latin typeface="Calibri"/>
              </a:rPr>
              <a:t>Long-term:  </a:t>
            </a:r>
            <a:r>
              <a:rPr sz="1600">
                <a:solidFill>
                  <a:srgbClr val="FFFFFF"/>
                </a:solidFill>
                <a:latin typeface="Calibri"/>
              </a:rPr>
              <a:t>Universal spectral intelligence platform for material identification across industries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4572000"/>
          <a:ext cx="9144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5 ARR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Assumption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Pilot struggles; build-in-house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$8.7M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 pilots in 2026; steady expansion</a:t>
                      </a:r>
                    </a:p>
                  </a:txBody>
                  <a:tcPr anchor="ctr">
                    <a:solidFill>
                      <a:srgbClr val="F0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$14M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PFAS mandate urgency + adjacent verticals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BCCDD"/>
                </a:solidFill>
                <a:latin typeface="Calibri"/>
              </a:defRPr>
            </a:pPr>
            <a:r>
              <a:t>K-Dense Science Lab  —  DREAMS Project  —  Contact us to schedule a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